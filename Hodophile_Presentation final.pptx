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4630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3474720" cy="3474720"/>
          </a:xfrm>
          <a:prstGeom prst="ellipse">
            <a:avLst/>
          </a:prstGeom>
          <a:solidFill>
            <a:srgbClr val="C9A84C">
              <a:alpha val="18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640080"/>
            <a:ext cx="2194560" cy="2194560"/>
          </a:xfrm>
          <a:prstGeom prst="ellipse">
            <a:avLst/>
          </a:prstGeom>
          <a:solidFill>
            <a:srgbClr val="C9A84C">
              <a:alpha val="3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3474720"/>
            <a:ext cx="1828800" cy="1828800"/>
          </a:xfrm>
          <a:prstGeom prst="ellipse">
            <a:avLst/>
          </a:prstGeom>
          <a:solidFill>
            <a:srgbClr val="1A56A0">
              <a:alpha val="28000"/>
            </a:srgbClr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502920"/>
            <a:ext cx="109728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943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kern="0" spc="100" dirty="0">
                <a:solidFill>
                  <a:srgbClr val="E2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Final Year Project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Hodophile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457200" y="217627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BD5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Smart Travel Companion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41148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9077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Prangya Paramita Satpathy , Rakesh Kumar Chand ,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Swarupananda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Rana ,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W.Lingaraj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2004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Pravakar Mishra, HOD, Dept. of MCA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5478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NIIS Institute of Business Administration  |  BPUT, Odisha  |  4th Sem MCA  |  2025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589520" y="43891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C9A84C">
                    <a:alpha val="60000"/>
                  </a:srgbClr>
                </a:solidFill>
              </a:rPr>
              <a:t>✈</a:t>
            </a:r>
            <a:endParaRPr lang="en-US" sz="3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B1F3A"/>
                </a:solidFill>
              </a:rPr>
              <a:t>AGENDA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4114800" cy="658368"/>
          </a:xfrm>
          <a:prstGeom prst="rect">
            <a:avLst/>
          </a:prstGeom>
          <a:solidFill>
            <a:srgbClr val="132440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1732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51560" y="1417320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Problem Statement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221992"/>
            <a:ext cx="4114800" cy="658368"/>
          </a:xfrm>
          <a:prstGeom prst="rect">
            <a:avLst/>
          </a:prstGeom>
          <a:solidFill>
            <a:srgbClr val="132440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221992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51560" y="2221992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&amp; Proposed Solution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026664"/>
            <a:ext cx="4114800" cy="658368"/>
          </a:xfrm>
          <a:prstGeom prst="rect">
            <a:avLst/>
          </a:prstGeom>
          <a:solidFill>
            <a:srgbClr val="132440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026664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51560" y="3026664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Technology Stack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831336"/>
            <a:ext cx="4114800" cy="658368"/>
          </a:xfrm>
          <a:prstGeom prst="rect">
            <a:avLst/>
          </a:prstGeom>
          <a:solidFill>
            <a:srgbClr val="132440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831336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051560" y="3831336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Modules &amp; Features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46320" y="1417320"/>
            <a:ext cx="4114800" cy="658368"/>
          </a:xfrm>
          <a:prstGeom prst="rect">
            <a:avLst/>
          </a:prstGeom>
          <a:solidFill>
            <a:srgbClr val="132440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141732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440680" y="1417320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Highlights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46320" y="2221992"/>
            <a:ext cx="4114800" cy="658368"/>
          </a:xfrm>
          <a:prstGeom prst="rect">
            <a:avLst/>
          </a:prstGeom>
          <a:solidFill>
            <a:srgbClr val="132440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221992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440680" y="2221992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Results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846320" y="3026664"/>
            <a:ext cx="4114800" cy="658368"/>
          </a:xfrm>
          <a:prstGeom prst="rect">
            <a:avLst/>
          </a:prstGeom>
          <a:solidFill>
            <a:srgbClr val="132440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3026664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440680" y="3026664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 &amp; Conclusion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B1F3A"/>
                </a:solidFill>
              </a:rPr>
              <a:t>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 &amp; Problem Statement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3931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25880"/>
            <a:ext cx="393192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258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What is Hodophile?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755648"/>
            <a:ext cx="3703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Hodophile is an AI-powered, full-stack web application that transforms travel planning into a single, seamless experience.
</a:t>
            </a: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with: </a:t>
            </a: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Flask · HTML/CSS/JS · SQLite · Gemini AI · OpenWeatherMap API
</a:t>
            </a: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Users: </a:t>
            </a: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families, solo travellers and travel enthusiasts looking for a one-stop planning platform.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325880"/>
            <a:ext cx="420624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325880"/>
            <a:ext cx="4206240" cy="347472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32588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Problem Statement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81728" y="1783080"/>
            <a:ext cx="3977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Fragmented platforms – users switch between 4–6 apps to plan one trip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81728" y="2386584"/>
            <a:ext cx="3977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No AI assistance for real-time, personalised guidance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81728" y="2990088"/>
            <a:ext cx="3977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🌦  Weather data not integrated into the planning workflow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81728" y="3593592"/>
            <a:ext cx="3977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No unified memory storage for travel photos &amp; journals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81728" y="4197096"/>
            <a:ext cx="3977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Budget tools are absent or not tied to recommendations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B1F3A"/>
                </a:solidFill>
              </a:rPr>
              <a:t>SOLUTION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Solution &amp; Objectives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89888"/>
            <a:ext cx="8229600" cy="685800"/>
          </a:xfrm>
          <a:prstGeom prst="rect">
            <a:avLst/>
          </a:prstGeom>
          <a:solidFill>
            <a:srgbClr val="C9A84C">
              <a:alpha val="12000"/>
            </a:srgbClr>
          </a:solidFill>
          <a:ln w="1016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89888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Hodophile integrates trip planning · AI chat · live weather · budget tools · and travel memories into ONE platform.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4069080" cy="749808"/>
          </a:xfrm>
          <a:prstGeom prst="rect">
            <a:avLst/>
          </a:prstGeom>
          <a:solidFill>
            <a:srgbClr val="132440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240280"/>
            <a:ext cx="3474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60120" y="2313432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personalised day-wise itineraries using Gemini AI based on destination, budget, group size &amp; travel type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2240280"/>
            <a:ext cx="4069080" cy="749808"/>
          </a:xfrm>
          <a:prstGeom prst="rect">
            <a:avLst/>
          </a:prstGeom>
          <a:solidFill>
            <a:srgbClr val="132440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2240280"/>
            <a:ext cx="3474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03520" y="2313432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real-time weather data (OpenWeatherMap) integrated directly into the planning workflow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4069080" cy="749808"/>
          </a:xfrm>
          <a:prstGeom prst="rect">
            <a:avLst/>
          </a:prstGeom>
          <a:solidFill>
            <a:srgbClr val="132440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154680"/>
            <a:ext cx="3474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60120" y="3227832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an interactive AI chatbot for 24/7 travel guidance, Q&amp;A, and recommendations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3154680"/>
            <a:ext cx="4069080" cy="749808"/>
          </a:xfrm>
          <a:prstGeom prst="rect">
            <a:avLst/>
          </a:prstGeom>
          <a:solidFill>
            <a:srgbClr val="132440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3154680"/>
            <a:ext cx="3474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303520" y="3227832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budget-aware planning with cost-aligned suggestions for accommodation, food &amp; transport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069080"/>
            <a:ext cx="4069080" cy="749808"/>
          </a:xfrm>
          <a:prstGeom prst="rect">
            <a:avLst/>
          </a:prstGeom>
          <a:solidFill>
            <a:srgbClr val="132440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069080"/>
            <a:ext cx="3474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60120" y="4142232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users to upload, store and revisit travel memories (photos/videos) in a personal gallery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00600" y="4069080"/>
            <a:ext cx="4069080" cy="749808"/>
          </a:xfrm>
          <a:prstGeom prst="rect">
            <a:avLst/>
          </a:prstGeom>
          <a:solidFill>
            <a:srgbClr val="132440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4069080"/>
            <a:ext cx="3474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303520" y="4142232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fully responsive, premium web UI with dark/light mode support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B1F3A"/>
                </a:solidFill>
              </a:rPr>
              <a:t>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353312"/>
            <a:ext cx="265176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35331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Frontend Layer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84048" y="1719072"/>
            <a:ext cx="265176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" y="1801368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6479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JavaScript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93776" y="2240280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203704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 (Dark/Light Mode)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93776" y="2679192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642616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API (Async Requests)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93776" y="3118104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08152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Particle Animation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64408" y="1353312"/>
            <a:ext cx="2651760" cy="36576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64408" y="135331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Backend Layer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64408" y="1719072"/>
            <a:ext cx="265176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0" name="Shape 18"/>
          <p:cNvSpPr/>
          <p:nvPr/>
        </p:nvSpPr>
        <p:spPr>
          <a:xfrm>
            <a:off x="3374136" y="1801368"/>
            <a:ext cx="73152" cy="73152"/>
          </a:xfrm>
          <a:prstGeom prst="ellipse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20440" y="176479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Flask (Routes &amp; Logic)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520440" y="2203704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74136" y="2679192"/>
            <a:ext cx="73152" cy="73152"/>
          </a:xfrm>
          <a:prstGeom prst="ellipse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20440" y="2642616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 Integration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74136" y="3118104"/>
            <a:ext cx="73152" cy="73152"/>
          </a:xfrm>
          <a:prstGeom prst="ellipse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20440" y="308152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OpenWeatherMap API Integration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44768" y="1353312"/>
            <a:ext cx="2651760" cy="36576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44768" y="135331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 Data Layer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144768" y="1719072"/>
            <a:ext cx="265176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54496" y="1801368"/>
            <a:ext cx="73152" cy="73152"/>
          </a:xfrm>
          <a:prstGeom prst="ellipse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176479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254496" y="2240280"/>
            <a:ext cx="73152" cy="73152"/>
          </a:xfrm>
          <a:prstGeom prst="ellipse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0" y="2203704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· trips · memories tables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54496" y="2679192"/>
            <a:ext cx="73152" cy="73152"/>
          </a:xfrm>
          <a:prstGeom prst="ellipse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2642616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Storage (uploads/)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254496" y="3118104"/>
            <a:ext cx="73152" cy="73152"/>
          </a:xfrm>
          <a:prstGeom prst="ellipse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308152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 (.env)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1709928" y="2560320"/>
            <a:ext cx="18288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84048" y="3822192"/>
            <a:ext cx="8375904" cy="804672"/>
          </a:xfrm>
          <a:prstGeom prst="rect">
            <a:avLst/>
          </a:prstGeom>
          <a:solidFill>
            <a:srgbClr val="0B1F3A"/>
          </a:solidFill>
          <a:ln w="8890">
            <a:solidFill>
              <a:srgbClr val="C9A84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3822192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194560" y="3858768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Google Gemini AI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840480" y="3858768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🌤  OpenWeatherMap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486400" y="3858768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  Google Maps Links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132320" y="3858768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File Upload (Werkzeug)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B1F3A"/>
                </a:solidFill>
              </a:rPr>
              <a:t>TECH STACK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444752"/>
            <a:ext cx="1691640" cy="658368"/>
          </a:xfrm>
          <a:prstGeom prst="roundRect">
            <a:avLst>
              <a:gd name="adj" fmla="val 13889"/>
            </a:avLst>
          </a:prstGeom>
          <a:solidFill>
            <a:srgbClr val="1A6E36"/>
          </a:solidFill>
          <a:ln w="12700">
            <a:solidFill>
              <a:srgbClr val="1A6E3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384048" y="1444752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Python 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39696" y="1444752"/>
            <a:ext cx="1691640" cy="658368"/>
          </a:xfrm>
          <a:prstGeom prst="roundRect">
            <a:avLst>
              <a:gd name="adj" fmla="val 13889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39696" y="1444752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🌶  Flask 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95344" y="1444752"/>
            <a:ext cx="1691640" cy="658368"/>
          </a:xfrm>
          <a:prstGeom prst="roundRect">
            <a:avLst>
              <a:gd name="adj" fmla="val 13889"/>
            </a:avLst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95344" y="1444752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 SQLite 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50992" y="1444752"/>
            <a:ext cx="1691640" cy="658368"/>
          </a:xfrm>
          <a:prstGeom prst="roundRect">
            <a:avLst>
              <a:gd name="adj" fmla="val 13889"/>
            </a:avLst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5650992" y="1444752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HTML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06640" y="1444752"/>
            <a:ext cx="1691640" cy="658368"/>
          </a:xfrm>
          <a:prstGeom prst="roundRect">
            <a:avLst>
              <a:gd name="adj" fmla="val 13889"/>
            </a:avLst>
          </a:prstGeom>
          <a:solidFill>
            <a:srgbClr val="1572B6"/>
          </a:solidFill>
          <a:ln w="12700">
            <a:solidFill>
              <a:srgbClr val="1572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406640" y="1444752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CSS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84048" y="2359152"/>
            <a:ext cx="1691640" cy="658368"/>
          </a:xfrm>
          <a:prstGeom prst="roundRect">
            <a:avLst>
              <a:gd name="adj" fmla="val 13889"/>
            </a:avLst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84048" y="2359152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JavaScript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139696" y="2359152"/>
            <a:ext cx="1691640" cy="658368"/>
          </a:xfrm>
          <a:prstGeom prst="roundRect">
            <a:avLst>
              <a:gd name="adj" fmla="val 13889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139696" y="2359152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Gemini AI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895344" y="2359152"/>
            <a:ext cx="1691640" cy="658368"/>
          </a:xfrm>
          <a:prstGeom prst="roundRect">
            <a:avLst>
              <a:gd name="adj" fmla="val 138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895344" y="2359152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🌤  OpenWeather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50992" y="2359152"/>
            <a:ext cx="1691640" cy="658368"/>
          </a:xfrm>
          <a:prstGeom prst="roundRect">
            <a:avLst>
              <a:gd name="adj" fmla="val 13889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650992" y="2359152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VS Code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06640" y="2359152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84048" y="3657600"/>
            <a:ext cx="8375904" cy="1234440"/>
          </a:xfrm>
          <a:prstGeom prst="rect">
            <a:avLst/>
          </a:prstGeom>
          <a:solidFill>
            <a:srgbClr val="132440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730752"/>
            <a:ext cx="804672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stack?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components are open-source, free, and industry-standard. Flask enables rapid development; SQLite requires zero configuration; Gemini AI brings cutting-edge natural language intelligence; and the frontend trio (HTML/CSS/JS) ensures universal browser support. Total development cost: ₹0.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B1F3A"/>
                </a:solidFill>
              </a:rPr>
              <a:t>MODULES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Modules &amp; Features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417320"/>
            <a:ext cx="2651760" cy="1417320"/>
          </a:xfrm>
          <a:prstGeom prst="rect">
            <a:avLst/>
          </a:prstGeom>
          <a:solidFill>
            <a:srgbClr val="132440"/>
          </a:solidFill>
          <a:ln w="635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149047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75488" y="19202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Module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216712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registration &amp; login with SHA-256 password hashing and Flask session management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18688" y="1417320"/>
            <a:ext cx="2651760" cy="1417320"/>
          </a:xfrm>
          <a:prstGeom prst="rect">
            <a:avLst/>
          </a:prstGeom>
          <a:solidFill>
            <a:srgbClr val="132440"/>
          </a:solidFill>
          <a:ln w="635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10128" y="149047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🗺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310128" y="19202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Planner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10128" y="216712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personalised itineraries via Gemini API based on destination, budget &amp; travel style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53328" y="1417320"/>
            <a:ext cx="2651760" cy="1417320"/>
          </a:xfrm>
          <a:prstGeom prst="rect">
            <a:avLst/>
          </a:prstGeom>
          <a:solidFill>
            <a:srgbClr val="132440"/>
          </a:solidFill>
          <a:ln w="635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44768" y="149047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144768" y="19202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44768" y="216712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conversational assistant using Gemini LLM for travel tips, Q&amp;A &amp; recommendations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4048" y="3044952"/>
            <a:ext cx="2651760" cy="1417320"/>
          </a:xfrm>
          <a:prstGeom prst="rect">
            <a:avLst/>
          </a:prstGeom>
          <a:solidFill>
            <a:srgbClr val="132440"/>
          </a:solidFill>
          <a:ln w="635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" y="311810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🌤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75488" y="35478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Module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" y="37947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weather data from OpenWeatherMap — temperature, humidity, wind speed, travel advisories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18688" y="3044952"/>
            <a:ext cx="2651760" cy="1417320"/>
          </a:xfrm>
          <a:prstGeom prst="rect">
            <a:avLst/>
          </a:prstGeom>
          <a:solidFill>
            <a:srgbClr val="132440"/>
          </a:solidFill>
          <a:ln w="635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310128" y="311810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310128" y="35478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Mgmt.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10128" y="37947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Budget-aligned plan generation with cost breakdown across stay, food, transport &amp; activities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53328" y="3044952"/>
            <a:ext cx="2651760" cy="1417320"/>
          </a:xfrm>
          <a:prstGeom prst="rect">
            <a:avLst/>
          </a:prstGeom>
          <a:solidFill>
            <a:srgbClr val="132440"/>
          </a:solidFill>
          <a:ln w="635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144768" y="311810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📸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144768" y="35478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44768" y="37947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upload, gallery display, delete management — personal digital travel journal feature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B1F3A"/>
                </a:solidFill>
              </a:rPr>
              <a:t>DATABASE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Design (SQLite)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353312"/>
            <a:ext cx="2651760" cy="38404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35331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 users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4048" y="1737360"/>
            <a:ext cx="26517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7373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84048" y="2121408"/>
            <a:ext cx="2651760" cy="365760"/>
          </a:xfrm>
          <a:prstGeom prst="rect">
            <a:avLst/>
          </a:prstGeom>
          <a:solidFill>
            <a:srgbClr val="F0F4FA"/>
          </a:solidFill>
          <a:ln w="3810">
            <a:solidFill>
              <a:srgbClr val="CB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212140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84048" y="2505456"/>
            <a:ext cx="26517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250545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84048" y="2889504"/>
            <a:ext cx="2651760" cy="365760"/>
          </a:xfrm>
          <a:prstGeom prst="rect">
            <a:avLst/>
          </a:prstGeom>
          <a:solidFill>
            <a:srgbClr val="F0F4FA"/>
          </a:solidFill>
          <a:ln w="381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2889504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(hash)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84048" y="3273552"/>
            <a:ext cx="26517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" y="327355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84048" y="3657600"/>
            <a:ext cx="2651760" cy="365760"/>
          </a:xfrm>
          <a:prstGeom prst="rect">
            <a:avLst/>
          </a:prstGeom>
          <a:solidFill>
            <a:srgbClr val="F0F4FA"/>
          </a:solidFill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" y="36576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64408" y="1353312"/>
            <a:ext cx="2651760" cy="384048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64408" y="135331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 trips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64408" y="1737360"/>
            <a:ext cx="26517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92424" y="17373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64408" y="2121408"/>
            <a:ext cx="2651760" cy="365760"/>
          </a:xfrm>
          <a:prstGeom prst="rect">
            <a:avLst/>
          </a:prstGeom>
          <a:solidFill>
            <a:srgbClr val="F0F4FA"/>
          </a:solidFill>
          <a:ln w="381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92424" y="212140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(FK)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64408" y="2505456"/>
            <a:ext cx="26517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92424" y="250545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64408" y="2889504"/>
            <a:ext cx="2651760" cy="365760"/>
          </a:xfrm>
          <a:prstGeom prst="rect">
            <a:avLst/>
          </a:prstGeom>
          <a:solidFill>
            <a:srgbClr val="F0F4FA"/>
          </a:solidFill>
          <a:ln w="3810">
            <a:solidFill>
              <a:srgbClr val="CBD5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92424" y="2889504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/ budget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64408" y="3273552"/>
            <a:ext cx="26517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92424" y="327355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travelers / vibe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64408" y="3657600"/>
            <a:ext cx="2651760" cy="365760"/>
          </a:xfrm>
          <a:prstGeom prst="rect">
            <a:avLst/>
          </a:prstGeom>
          <a:solidFill>
            <a:srgbClr val="F0F4FA"/>
          </a:solidFill>
          <a:ln w="3810">
            <a:solidFill>
              <a:srgbClr val="CBD5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92424" y="36576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/ itinerary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64408" y="4041648"/>
            <a:ext cx="26517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92424" y="404164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144768" y="1353312"/>
            <a:ext cx="26517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44768" y="135331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 memories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144768" y="1737360"/>
            <a:ext cx="26517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72784" y="17373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144768" y="2121408"/>
            <a:ext cx="2651760" cy="365760"/>
          </a:xfrm>
          <a:prstGeom prst="rect">
            <a:avLst/>
          </a:prstGeom>
          <a:solidFill>
            <a:srgbClr val="F0F4FA"/>
          </a:solidFill>
          <a:ln w="3810">
            <a:solidFill>
              <a:srgbClr val="CBD5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72784" y="212140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(FK)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144768" y="2505456"/>
            <a:ext cx="26517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72784" y="250545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file_name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144768" y="2889504"/>
            <a:ext cx="2651760" cy="365760"/>
          </a:xfrm>
          <a:prstGeom prst="rect">
            <a:avLst/>
          </a:prstGeom>
          <a:solidFill>
            <a:srgbClr val="F0F4FA"/>
          </a:solidFill>
          <a:ln w="3810">
            <a:solidFill>
              <a:srgbClr val="CBD5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72784" y="2889504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144768" y="3273552"/>
            <a:ext cx="26517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72784" y="327355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upload_date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384048" y="4279392"/>
            <a:ext cx="8375904" cy="658368"/>
          </a:xfrm>
          <a:prstGeom prst="rect">
            <a:avLst/>
          </a:prstGeom>
          <a:solidFill>
            <a:srgbClr val="0B1F3A"/>
          </a:solidFill>
          <a:ln w="7620">
            <a:solidFill>
              <a:srgbClr val="C9A84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427939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Relationships:  users (1) → trips (many)   ·   users (1) → memories (many)   ·   All passwords stored as SHA-256 hashes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B1F3A"/>
                </a:solidFill>
              </a:rPr>
              <a:t>IMPLEMENTATION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Highlights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472184"/>
            <a:ext cx="384048" cy="38404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472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1856232"/>
            <a:ext cx="0" cy="347472"/>
          </a:xfrm>
          <a:prstGeom prst="line">
            <a:avLst/>
          </a:prstGeom>
          <a:noFill/>
          <a:ln w="19050">
            <a:solidFill>
              <a:srgbClr val="C9A84C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877824" y="146304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77824" y="1664208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Destination, budget, group size &amp; travel type entered via the responsive planning form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84048" y="2185416"/>
            <a:ext cx="384048" cy="38404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185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2569464"/>
            <a:ext cx="0" cy="347472"/>
          </a:xfrm>
          <a:prstGeom prst="line">
            <a:avLst/>
          </a:prstGeom>
          <a:noFill/>
          <a:ln w="19050">
            <a:solidFill>
              <a:srgbClr val="C9A84C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877824" y="217627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Routes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77824" y="2377440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/plan-trip receives data, validates inputs, builds structured Gemini prompt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4048" y="2898648"/>
            <a:ext cx="384048" cy="38404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898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66928" y="3282696"/>
            <a:ext cx="0" cy="347472"/>
          </a:xfrm>
          <a:prstGeom prst="line">
            <a:avLst/>
          </a:prstGeom>
          <a:noFill/>
          <a:ln w="19050">
            <a:solidFill>
              <a:srgbClr val="C9A84C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877824" y="288950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77824" y="3090672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generates full day-wise itinerary, food tips, attractions &amp; budget advice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84048" y="3611880"/>
            <a:ext cx="384048" cy="38404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66928" y="3995928"/>
            <a:ext cx="0" cy="347472"/>
          </a:xfrm>
          <a:prstGeom prst="line">
            <a:avLst/>
          </a:prstGeom>
          <a:noFill/>
          <a:ln w="19050">
            <a:solidFill>
              <a:srgbClr val="C9A84C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877824" y="360273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77824" y="3803904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saved to SQLite trips table linked to the authenticated user's account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84048" y="4325112"/>
            <a:ext cx="384048" cy="38404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4325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77824" y="431596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UI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77824" y="4517136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page shows itinerary, budget breakdown, weather card &amp; Google Maps link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92040" y="1389888"/>
            <a:ext cx="3858768" cy="3493008"/>
          </a:xfrm>
          <a:prstGeom prst="rect">
            <a:avLst/>
          </a:prstGeom>
          <a:solidFill>
            <a:srgbClr val="0D1117"/>
          </a:solidFill>
          <a:ln w="7620">
            <a:solidFill>
              <a:srgbClr val="C9A8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10912" y="1463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Gemini API call (Flask)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10912" y="1755648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9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call_gemini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(prompt):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url = GEMINI_BASE_URL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payload = {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"contents"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[{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"parts"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[{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"text"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prompt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]}
  }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resp = requests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.post(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url, json=payload)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resp.json()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</a:t>
            </a: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"candidates"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][0]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</a:t>
            </a: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"content"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</a:t>
            </a: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"parts"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][0]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</a:t>
            </a: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"text"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B1F3A"/>
                </a:solidFill>
              </a:rPr>
              <a:t>TESTING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 &amp; Results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325880"/>
            <a:ext cx="1920240" cy="969264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4048" y="143560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84048" y="192938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Executed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87168" y="1325880"/>
            <a:ext cx="1920240" cy="969264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87168" y="143560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A6E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487168" y="192938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Passed ✔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90288" y="1325880"/>
            <a:ext cx="1920240" cy="969264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90288" y="143560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590288" y="192938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93408" y="1325880"/>
            <a:ext cx="1920240" cy="969264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93408" y="143560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052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693408" y="192938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Defects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4048" y="2423160"/>
            <a:ext cx="8375904" cy="32918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242316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Type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892808" y="2423160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10528" y="242316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84048" y="2761488"/>
            <a:ext cx="8229600" cy="347472"/>
          </a:xfrm>
          <a:prstGeom prst="rect">
            <a:avLst/>
          </a:prstGeom>
          <a:solidFill>
            <a:srgbClr val="0F2A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27980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2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892808" y="27980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signup with valid data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510528" y="279806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Pass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84048" y="3090672"/>
            <a:ext cx="8229600" cy="347472"/>
          </a:xfrm>
          <a:prstGeom prst="rect">
            <a:avLst/>
          </a:prstGeom>
          <a:solidFill>
            <a:srgbClr val="0F2A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31272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2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892808" y="31272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with invalid credentials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510528" y="312724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Pass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84048" y="3419856"/>
            <a:ext cx="8229600" cy="347472"/>
          </a:xfrm>
          <a:prstGeom prst="rect">
            <a:avLst/>
          </a:prstGeom>
          <a:solidFill>
            <a:srgbClr val="0F2A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34564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2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892808" y="34564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fetch for unknown city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510528" y="34564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Pass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84048" y="3749040"/>
            <a:ext cx="8229600" cy="347472"/>
          </a:xfrm>
          <a:prstGeom prst="rect">
            <a:avLst/>
          </a:prstGeom>
          <a:solidFill>
            <a:srgbClr val="0F2A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" y="37856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2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892808" y="37856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→ Login → Generate Plan → Save to DB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510528" y="378561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Pass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84048" y="4078224"/>
            <a:ext cx="8229600" cy="347472"/>
          </a:xfrm>
          <a:prstGeom prst="rect">
            <a:avLst/>
          </a:prstGeom>
          <a:solidFill>
            <a:srgbClr val="0F2A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" y="4114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2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892808" y="4114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chat: JS → Flask → Gemini → JS response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510528" y="41148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Pass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84048" y="4407408"/>
            <a:ext cx="8229600" cy="347472"/>
          </a:xfrm>
          <a:prstGeom prst="rect">
            <a:avLst/>
          </a:prstGeom>
          <a:solidFill>
            <a:srgbClr val="0F2A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" y="444398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2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892808" y="444398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journey on mobile (320px) – responsive check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510528" y="444398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Pass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84048" y="4736592"/>
            <a:ext cx="8229600" cy="347472"/>
          </a:xfrm>
          <a:prstGeom prst="rect">
            <a:avLst/>
          </a:prstGeom>
          <a:solidFill>
            <a:srgbClr val="0F2A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" y="47731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2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1892808" y="47731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 quota exceeded – graceful fallback shown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510528" y="47731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Pass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B1F3A"/>
                </a:solidFill>
              </a:rPr>
              <a:t>UI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 Showcase — Page Screenshots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417320"/>
            <a:ext cx="2651760" cy="1572768"/>
          </a:xfrm>
          <a:prstGeom prst="rect">
            <a:avLst/>
          </a:prstGeom>
          <a:solidFill>
            <a:srgbClr val="132440"/>
          </a:solidFill>
          <a:ln w="762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4048" y="15087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🏠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84048" y="203911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231343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· Stats · Feature Cards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84048" y="271576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36976" y="1417320"/>
            <a:ext cx="2651760" cy="1572768"/>
          </a:xfrm>
          <a:prstGeom prst="rect">
            <a:avLst/>
          </a:prstGeom>
          <a:solidFill>
            <a:srgbClr val="132440"/>
          </a:solidFill>
          <a:ln w="762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36976" y="15087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📝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236976" y="203911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Planner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36976" y="231343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· Budget · Group Form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36976" y="271576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089904" y="15087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089904" y="203911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Result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89904" y="231343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Day-wise Itinerary · Budget Breakdown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089904" y="271576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84048" y="3227832"/>
            <a:ext cx="2651760" cy="1572768"/>
          </a:xfrm>
          <a:prstGeom prst="rect">
            <a:avLst/>
          </a:prstGeom>
          <a:solidFill>
            <a:srgbClr val="132440"/>
          </a:solidFill>
          <a:ln w="762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84048" y="331927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384048" y="384962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4048" y="4123944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Gemini-powered Q&amp;A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84048" y="452628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36976" y="3227832"/>
            <a:ext cx="2651760" cy="1572768"/>
          </a:xfrm>
          <a:prstGeom prst="rect">
            <a:avLst/>
          </a:prstGeom>
          <a:solidFill>
            <a:srgbClr val="132440"/>
          </a:solidFill>
          <a:ln w="762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236976" y="331927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🌤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3236976" y="384962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36976" y="4123944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API · Temp · Humidity · Wind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236976" y="452628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089904" y="3227832"/>
            <a:ext cx="2651760" cy="1572768"/>
          </a:xfrm>
          <a:prstGeom prst="rect">
            <a:avLst/>
          </a:prstGeom>
          <a:solidFill>
            <a:srgbClr val="132440"/>
          </a:solidFill>
          <a:ln w="762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089904" y="331927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📸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6089904" y="384962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89904" y="4123944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Gallery · Photo Management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089904" y="452628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</a:t>
            </a:r>
            <a:endParaRPr lang="en-US" sz="8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D1452247-8DDE-7A83-5A55-2AE4872BC1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966" t="26881" r="27951" b="35875"/>
          <a:stretch>
            <a:fillRect/>
          </a:stretch>
        </p:blipFill>
        <p:spPr>
          <a:xfrm>
            <a:off x="365757" y="1380743"/>
            <a:ext cx="2651761" cy="1618488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05C75B5B-9893-FA04-8DD0-0AF3A1D5A38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200" t="28088" r="33400" b="23409"/>
          <a:stretch>
            <a:fillRect/>
          </a:stretch>
        </p:blipFill>
        <p:spPr>
          <a:xfrm>
            <a:off x="3218686" y="1389888"/>
            <a:ext cx="2670050" cy="1581911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595E7C28-43C4-B2A8-F0C6-59A88ED7DAE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4800"/>
          <a:stretch>
            <a:fillRect/>
          </a:stretch>
        </p:blipFill>
        <p:spPr>
          <a:xfrm>
            <a:off x="3236976" y="3246120"/>
            <a:ext cx="2651760" cy="1517904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AE8D8CA3-9F53-37D0-3723-4EF52455712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9301" t="19689" r="20033" b="19512"/>
          <a:stretch>
            <a:fillRect/>
          </a:stretch>
        </p:blipFill>
        <p:spPr>
          <a:xfrm>
            <a:off x="6089904" y="3209543"/>
            <a:ext cx="2596896" cy="1572769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4D66A05D-DB99-D052-0215-3A01DBBD624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3927" r="1417" b="5481"/>
          <a:stretch>
            <a:fillRect/>
          </a:stretch>
        </p:blipFill>
        <p:spPr>
          <a:xfrm>
            <a:off x="384048" y="3203448"/>
            <a:ext cx="2651760" cy="1597152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52289B1E-C01E-34C2-E972-9866EB1D5D6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0400" t="27615" r="19882" b="21600"/>
          <a:stretch>
            <a:fillRect/>
          </a:stretch>
        </p:blipFill>
        <p:spPr>
          <a:xfrm>
            <a:off x="6012180" y="1335025"/>
            <a:ext cx="2596896" cy="166115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B1F3A"/>
                </a:solidFill>
              </a:rPr>
              <a:t>EVALUATION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Advantages &amp; Limitations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4160520" cy="365760"/>
          </a:xfrm>
          <a:prstGeom prst="rect">
            <a:avLst/>
          </a:prstGeom>
          <a:solidFill>
            <a:srgbClr val="1A6E36"/>
          </a:solidFill>
          <a:ln w="12700">
            <a:solidFill>
              <a:srgbClr val="1A6E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Advantages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719072"/>
            <a:ext cx="3931920" cy="3182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All-in-one platform eliminating app-switching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personalised itinerary generation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weather integrated into planning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Zero-cost open-source technology stack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responsive — works on any device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memories gallery for long-term value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authentication with password hashing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links for every destination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325880"/>
            <a:ext cx="4023360" cy="36576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325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Limitations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719072"/>
            <a:ext cx="3840480" cy="3182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active internet connection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flight / hotel booking integration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free-tier usage limits apply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not suited for large-scale production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native mobile app (web only)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 doesn't retain cross-session memory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uploads stored locally (not cloud)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B1F3A"/>
                </a:solidFill>
              </a:rPr>
              <a:t>FUTURE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Enhancements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417320"/>
            <a:ext cx="4114800" cy="713232"/>
          </a:xfrm>
          <a:prstGeom prst="rect">
            <a:avLst/>
          </a:prstGeom>
          <a:solidFill>
            <a:srgbClr val="132440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41732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42416" y="146304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42416" y="170992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Android &amp; iOS app using Flutter with push notifications for weather &amp; travel alerts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1417320"/>
            <a:ext cx="4114800" cy="713232"/>
          </a:xfrm>
          <a:prstGeom prst="rect">
            <a:avLst/>
          </a:prstGeom>
          <a:solidFill>
            <a:srgbClr val="132440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41732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✈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13248" y="146304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API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13248" y="170992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flight &amp; hotel booking via Amadeus or Skyscanner API integration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4048" y="2258568"/>
            <a:ext cx="4114800" cy="713232"/>
          </a:xfrm>
          <a:prstGeom prst="rect">
            <a:avLst/>
          </a:prstGeom>
          <a:solidFill>
            <a:srgbClr val="132440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258568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42416" y="230428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Personalisation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42416" y="2551176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recommendations based on user travel history &amp; behavioural patterns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0" y="2258568"/>
            <a:ext cx="4114800" cy="713232"/>
          </a:xfrm>
          <a:prstGeom prst="rect">
            <a:avLst/>
          </a:prstGeom>
          <a:solidFill>
            <a:srgbClr val="132440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258568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☁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413248" y="230428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13248" y="2551176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memories to AWS S3 or Firebase for scalable &amp; globally accessible media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84048" y="3099816"/>
            <a:ext cx="4114800" cy="713232"/>
          </a:xfrm>
          <a:prstGeom prst="rect">
            <a:avLst/>
          </a:prstGeom>
          <a:solidFill>
            <a:srgbClr val="132440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3099816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💱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42416" y="314553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Converter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42416" y="339242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currency conversion for international trip budget management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3099816"/>
            <a:ext cx="4114800" cy="713232"/>
          </a:xfrm>
          <a:prstGeom prst="rect">
            <a:avLst/>
          </a:prstGeom>
          <a:solidFill>
            <a:srgbClr val="132440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099816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413248" y="314553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Export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13248" y="339242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AI-generated itineraries as downloadable, shareable PDF documents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84048" y="3941064"/>
            <a:ext cx="4114800" cy="713232"/>
          </a:xfrm>
          <a:prstGeom prst="rect">
            <a:avLst/>
          </a:prstGeom>
          <a:solidFill>
            <a:srgbClr val="132440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3941064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042416" y="398678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42416" y="423367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 support for Hindi, Odia &amp; other regional languages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3941064"/>
            <a:ext cx="4114800" cy="713232"/>
          </a:xfrm>
          <a:prstGeom prst="rect">
            <a:avLst/>
          </a:prstGeom>
          <a:solidFill>
            <a:srgbClr val="132440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3941064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👥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5413248" y="398678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13248" y="423367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travel network where users share reviews, photos &amp; recommendations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B1F3A"/>
                </a:solidFill>
              </a:rPr>
              <a:t>CONCLUSION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0" y="27432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0" dirty="0">
                <a:solidFill>
                  <a:srgbClr val="C9A84C">
                    <a:alpha val="12000"/>
                  </a:srgbClr>
                </a:solidFill>
              </a:rPr>
              <a:t>✈</a:t>
            </a:r>
            <a:endParaRPr lang="en-US" sz="140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50292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8138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Hodophile successfully demonstrates that an AI-powered, integrated travel planning system can significantly improve the travel experience — from planning and preparation to memory preservation.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395728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39572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25 test cases passed with 100% success rate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2871216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2871216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modules fully implemented and integrated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3346704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3346704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Gemini AI + Live Weather API working in production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3822192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382219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 with Dark/Light mode — works on all devices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4297680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429768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with free, open-source tools at zero cost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4828032"/>
            <a:ext cx="82296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2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Hodophile — making every journey smarter, simpler, and more memorable.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A56A0">
              <a:alpha val="12000"/>
            </a:srgbClr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CBD5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your kind attention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828800" y="2697480"/>
            <a:ext cx="54864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816352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828800" y="3840480"/>
            <a:ext cx="54864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2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</a:t>
            </a: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Pravakar Mishra, HOD, Dept. of MCA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3708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  —  We welcome your questions ✈</a:t>
            </a:r>
            <a:endParaRPr lang="en-US" sz="13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7E6FAD-87C0-FF23-5E38-3B8F3C33F4C9}"/>
              </a:ext>
            </a:extLst>
          </p:cNvPr>
          <p:cNvSpPr txBox="1"/>
          <p:nvPr/>
        </p:nvSpPr>
        <p:spPr>
          <a:xfrm>
            <a:off x="1940400" y="2965334"/>
            <a:ext cx="572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E2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</a:t>
            </a:r>
            <a:r>
              <a:rPr lang="en-US" sz="18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Prangya</a:t>
            </a: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Paramita Satpathy , Rakesh Kumar Chand , </a:t>
            </a:r>
            <a:r>
              <a:rPr lang="en-US" sz="18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Swarupananda</a:t>
            </a: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Rana , </a:t>
            </a:r>
            <a:r>
              <a:rPr lang="en-US" sz="18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W.Lingaraj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1414</Words>
  <Application>Microsoft Office PowerPoint</Application>
  <PresentationFormat>On-screen Show (16:9)</PresentationFormat>
  <Paragraphs>296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RAKESH CHAND</cp:lastModifiedBy>
  <cp:revision>3</cp:revision>
  <dcterms:created xsi:type="dcterms:W3CDTF">2026-05-06T06:10:14Z</dcterms:created>
  <dcterms:modified xsi:type="dcterms:W3CDTF">2026-05-06T06:41:54Z</dcterms:modified>
</cp:coreProperties>
</file>